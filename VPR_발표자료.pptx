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09728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VPR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59E0B"/>
                </a:solidFill>
              </a:rPr>
              <a:t>Virtual Program Runner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BD5E1"/>
                </a:solidFill>
              </a:rPr>
              <a:t>설치 없이, 브라우저에서 바로 코딩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교육용 온라인 코딩 플랫폼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01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만든 계기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새 언어를 배우려면 설치부터 해야 하는 번거로움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오류가 어디서 나는지 찾기 어려운 경험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초보자가 코딩을 시작하는 진입 장벽이 너무 높음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02 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타겟 사용자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486400" cy="18288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🎓  코딩 입문자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처음 프로그래밍을 배우는 학생·비전공자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486400" cy="18288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💡  빠른 테스터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97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설치 없이 아이디어를 즉시 검증하고 싶은 사람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💾  저장공간 절약형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IDE·컴파일러 설치 부담이 있는 사용자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114800"/>
            <a:ext cx="5486400" cy="182880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51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🚨  에러 해결 필요자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8006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오류 원인을 몰라서 막힌 사람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03 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6400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브라우저 즉시 코딩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설치 없이 16개+ 언어 코드 작성·실행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6400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AI 코드 도우미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아이디어 생성·코드 개선·단계별 설계 (HuggingFace 연동)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6400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에러 분석 도구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오류 메시지 붙여넣기 → 원인 추정 + 수정 방향 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66359"/>
            <a:ext cx="6400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303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2120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HTML 실시간 미리보기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5778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HTML/CSS 코드 결과를 에디터 옆에서 즉시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04  ADDITIONAL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부가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📚  예제 코드 라이브러리 — 언어별 샘플 코드 열람·에디터 바로 불러오기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👤  계정 &amp; 프로필 — 회원가입·로그인·프로젝트 저장·프로필 편집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🔌  Arduino/ESP-IDF 회로 시각화 — 핀 연결 회로도 템플릿 제공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🌐  한/영 다국어 UI + 라이트·다크 테마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BBF24"/>
                </a:solidFill>
              </a:rPr>
              <a:t>🚧  커뮤니티 공유 — 구조 설계 완료, 실운영 기능 개발 예정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05 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기존 서비스와의 차이점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3291840" cy="65836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084832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920240"/>
            <a:ext cx="18288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84832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VPR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920240"/>
            <a:ext cx="1645920" cy="65836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084832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920240"/>
            <a:ext cx="1645920" cy="65836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84832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CodePen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920240"/>
            <a:ext cx="1828800" cy="658368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084832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VSCode Web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78608"/>
            <a:ext cx="3291840" cy="658368"/>
          </a:xfrm>
          <a:prstGeom prst="rect">
            <a:avLst/>
          </a:prstGeom>
          <a:solidFill>
            <a:srgbClr val="25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74320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에러 전용 분석 페이지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578608"/>
            <a:ext cx="1828800" cy="658368"/>
          </a:xfrm>
          <a:prstGeom prst="rect">
            <a:avLst/>
          </a:prstGeom>
          <a:solidFill>
            <a:srgbClr val="1C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274320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2578608"/>
            <a:ext cx="1645920" cy="658368"/>
          </a:xfrm>
          <a:prstGeom prst="rect">
            <a:avLst/>
          </a:prstGeom>
          <a:solidFill>
            <a:srgbClr val="25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743200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2578608"/>
            <a:ext cx="1645920" cy="658368"/>
          </a:xfrm>
          <a:prstGeom prst="rect">
            <a:avLst/>
          </a:prstGeom>
          <a:solidFill>
            <a:srgbClr val="25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743200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2578608"/>
            <a:ext cx="1828800" cy="658368"/>
          </a:xfrm>
          <a:prstGeom prst="rect">
            <a:avLst/>
          </a:prstGeom>
          <a:solidFill>
            <a:srgbClr val="25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2743200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236976"/>
            <a:ext cx="329184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401568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AI 도우미 내장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3236976"/>
            <a:ext cx="1828800" cy="658368"/>
          </a:xfrm>
          <a:prstGeom prst="rect">
            <a:avLst/>
          </a:prstGeom>
          <a:solidFill>
            <a:srgbClr val="1C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340156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3236976"/>
            <a:ext cx="16459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3401568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유료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236976"/>
            <a:ext cx="16459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3401568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3236976"/>
            <a:ext cx="18288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340156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플러그인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895344"/>
            <a:ext cx="3291840" cy="658368"/>
          </a:xfrm>
          <a:prstGeom prst="rect">
            <a:avLst/>
          </a:prstGeom>
          <a:solidFill>
            <a:srgbClr val="25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059936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Arduino 회로 시각화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3895344"/>
            <a:ext cx="1828800" cy="658368"/>
          </a:xfrm>
          <a:prstGeom prst="rect">
            <a:avLst/>
          </a:prstGeom>
          <a:solidFill>
            <a:srgbClr val="1C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4059936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60" y="3895344"/>
            <a:ext cx="1645920" cy="658368"/>
          </a:xfrm>
          <a:prstGeom prst="rect">
            <a:avLst/>
          </a:prstGeom>
          <a:solidFill>
            <a:srgbClr val="25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0680" y="4059936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3895344"/>
            <a:ext cx="1645920" cy="658368"/>
          </a:xfrm>
          <a:prstGeom prst="rect">
            <a:avLst/>
          </a:prstGeom>
          <a:solidFill>
            <a:srgbClr val="25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6600" y="4059936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3895344"/>
            <a:ext cx="1828800" cy="658368"/>
          </a:xfrm>
          <a:prstGeom prst="rect">
            <a:avLst/>
          </a:prstGeom>
          <a:solidFill>
            <a:srgbClr val="25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4059936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553712"/>
            <a:ext cx="329184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718304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완전 한국어 UI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4553712"/>
            <a:ext cx="1828800" cy="658368"/>
          </a:xfrm>
          <a:prstGeom prst="rect">
            <a:avLst/>
          </a:prstGeom>
          <a:solidFill>
            <a:srgbClr val="1C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11880" y="4718304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4553712"/>
            <a:ext cx="16459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0680" y="4718304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4553712"/>
            <a:ext cx="16459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6600" y="4718304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7171"/>
                </a:solidFill>
              </a:rPr>
              <a:t>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4553712"/>
            <a:ext cx="18288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32520" y="4718304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부분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212080"/>
            <a:ext cx="3291840" cy="658368"/>
          </a:xfrm>
          <a:prstGeom prst="rect">
            <a:avLst/>
          </a:prstGeom>
          <a:solidFill>
            <a:srgbClr val="25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5376672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설치 불필요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66160" y="5212080"/>
            <a:ext cx="1828800" cy="658368"/>
          </a:xfrm>
          <a:prstGeom prst="rect">
            <a:avLst/>
          </a:prstGeom>
          <a:solidFill>
            <a:srgbClr val="1C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11880" y="5376672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94960" y="5212080"/>
            <a:ext cx="1645920" cy="658368"/>
          </a:xfrm>
          <a:prstGeom prst="rect">
            <a:avLst/>
          </a:prstGeom>
          <a:solidFill>
            <a:srgbClr val="25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40680" y="5376672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40880" y="5212080"/>
            <a:ext cx="1645920" cy="658368"/>
          </a:xfrm>
          <a:prstGeom prst="rect">
            <a:avLst/>
          </a:prstGeom>
          <a:solidFill>
            <a:srgbClr val="25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86600" y="5376672"/>
            <a:ext cx="1554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0" y="5212080"/>
            <a:ext cx="1828800" cy="658368"/>
          </a:xfrm>
          <a:prstGeom prst="rect">
            <a:avLst/>
          </a:prstGeom>
          <a:solidFill>
            <a:srgbClr val="25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32520" y="5376672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C55E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06 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장점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2004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올인원 구조 — 코딩·에러해결·AI·예제가 한 서비스 안에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32004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에러 룰 분석 — 패턴 기반 오류 원인 즉시 표시 (오프라인 동작)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32004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HTML 미리보기 — 별도 설정 없이 바로 렌더링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32004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한국어 친화 UX — 초보 한국어 사용자 중심 설계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32004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경량 스택 — Node.js + 순수 HTML/JS, 빠른 로드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07 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단점 /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5681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코드 실행은 런타임 세팅 필요 — 기본 상태에서 즉시 실행 안 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88336"/>
            <a:ext cx="27432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9689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AI는 HuggingFace API Key 필요 — 무료이나 발급·설정 과정 존재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64992"/>
            <a:ext cx="27432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7355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커뮤니티 공유 미완성 — UI 구조만 있고 실제 공유 기능 개발 예정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41647"/>
            <a:ext cx="27432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86783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50207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Arduino는 회로 시각화만 — 실제 빌드·플래시 미지원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18304"/>
            <a:ext cx="27432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API Key 브라우저 로컬 저장 — 공개 배포 시 보안 프록시 필요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94960"/>
            <a:ext cx="27432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400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멀티유저 실운영 DB 미완성 — 현재 로컬 SQLite MVP 수준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071615"/>
            <a:ext cx="274320" cy="274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016751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80175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오프라인 실행 불가 — 코드 실행은 인터넷 필수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08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향후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2651760" cy="292608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265176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코드 실행 인프라 안정화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103120"/>
            <a:ext cx="2651760" cy="292608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2103120"/>
            <a:ext cx="265176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2단계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커뮤니티 공유 기능 완성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2651760" cy="292608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265176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3단계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Arduino 실제 빌드·플래시 지원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103120"/>
            <a:ext cx="2651760" cy="2926080"/>
          </a:xfrm>
          <a:prstGeom prst="rect">
            <a:avLst/>
          </a:prstGeom>
          <a:solidFill>
            <a:srgbClr val="2D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103120"/>
            <a:ext cx="265176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93B"/>
                </a:solidFill>
              </a:rPr>
              <a:t>4단계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실서버 DB 전환 및 멀티유저 지원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0972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"누구나 5초 안에
코딩을 시작할 수 있는 환경"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VPR — Virtual Program Runner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6692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BD5E1"/>
                </a:solidFill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